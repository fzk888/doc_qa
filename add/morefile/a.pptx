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3981654530" r:id="rId1"/>
  </p:sldMasterIdLst>
  <p:sldIdLst>
    <p:sldId id="1623053141" r:id="rId2"/>
    <p:sldId id="1153433203" r:id="rId3"/>
    <p:sldId id="1909454455" r:id="rId4"/>
    <p:sldId id="212227503" r:id="rId5"/>
    <p:sldId id="80948595" r:id="rId6"/>
    <p:sldId id="851510243" r:id="rId7"/>
    <p:sldId id="1407218739" r:id="rId8"/>
    <p:sldId id="191601782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81BAF-440D-4C46-99D2-74058602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6470B-C478-46C5-9FBF-A87A989BF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3A0B6-D186-4963-A83A-F21ED9C4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6B2-EE12-4C17-B66F-1EFBBDBB1421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86CA2-4320-4E17-9460-9FAE52DE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D67F3-97FC-4DBC-A298-2C3D3946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1A8D-FCF6-42AF-86B4-3F8F7CE6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2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8FC98-0BDB-4C7D-8E60-90A2466F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17E537-F178-4587-ACE6-E5A0FB623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CF6D4-A867-4BF9-B32F-0F2D13B7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6B2-EE12-4C17-B66F-1EFBBDBB1421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0F3B8-A32C-417C-ABB6-A68C1AD3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AAF5A-11AC-4648-A57A-1D2C4E48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1A8D-FCF6-42AF-86B4-3F8F7CE6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5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E8F3D6-1D0E-49E2-8A83-70AD285E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E523A3-FCF8-4B65-96A3-762F022C7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D505E-4B56-451A-AE15-F91688B2D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616B2-EE12-4C17-B66F-1EFBBDBB1421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6ED712-F35B-4FE4-ADA5-C0F1F0A44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B974D7-9684-4BF2-A6EB-C4DF3E867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F1A8D-FCF6-42AF-86B4-3F8F7CE6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75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3062975937" r:id="rId1"/>
    <p:sldLayoutId id="2683561429" r:id="rId2"/>
    <p:sldLayoutId id="2550613577" r:id="rId3"/>
    <p:sldLayoutId id="3626033858" r:id="rId4"/>
    <p:sldLayoutId id="3064028017" r:id="rId5"/>
    <p:sldLayoutId id="3950124062" r:id="rId6"/>
    <p:sldLayoutId id="2775706814" r:id="rId7"/>
    <p:sldLayoutId id="2411798975" r:id="rId8"/>
    <p:sldLayoutId id="3100879157" r:id="rId9"/>
    <p:sldLayoutId id="2575023617" r:id="rId10"/>
    <p:sldLayoutId id="36139603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" name="Title 3"/>
          <p:cNvSpPr>
            <a:spLocks noGrp="1"/>
          </p:cNvSpPr>
          <p:nvPr/>
        </p:nvSpPr>
        <p:spPr>
          <a:xfrm>
            <a:off x="8763000" y="2641600"/>
            <a:ext cx="2921000" cy="622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5500"/>
              </a:lnSpc>
            </a:pPr>
            <a:r>
              <a:rPr sz="4350">
                <a:solidFill>
                  <a:srgbClr val="000000"/>
                </a:solidFill>
                <a:latin typeface="微软雅黑"/>
                <a:ea typeface="微软雅黑"/>
              </a:rPr>
              <a:t>元宇宙浅析</a:t>
            </a:r>
          </a:p>
        </p:txBody>
      </p:sp>
      <p:pic>
        <p:nvPicPr>
          <p:cNvPr id="5" name="Picture 1" descr="Picture 1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0" y="0"/>
            <a:ext cx="8432800" cy="6858000"/>
          </a:xfrm>
          <a:prstGeom prst="rect">
            <a:avLst/>
          </a:prstGeom>
        </p:spPr>
      </p:pic>
      <p:pic>
        <p:nvPicPr>
          <p:cNvPr id="2" name="Picture 2" descr="Picture 2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10655300" y="1143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Picture 3"/>
          <p:cNvPicPr>
            <a:picLocks noChangeAspect="1"/>
          </p:cNvPicPr>
          <p:nvPr/>
        </p:nvPicPr>
        <p:blipFill>
          <a:blip r:embed="rId2" cstate="print">
            <a:alphaModFix/>
          </a:blip>
          <a:srcRect t="1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/>
        </p:nvSpPr>
        <p:spPr>
          <a:xfrm>
            <a:off x="330200" y="317500"/>
            <a:ext cx="5753100" cy="5905500"/>
          </a:xfrm>
          <a:custGeom>
            <a:avLst/>
            <a:gdLst/>
            <a:ahLst/>
            <a:cxnLst/>
            <a:rect l="0" t="0" r="0" b="0"/>
            <a:pathLst>
              <a:path w="5753100" h="5905500">
                <a:moveTo>
                  <a:pt x="6984" y="5900801"/>
                </a:moveTo>
                <a:lnTo>
                  <a:pt x="5742558" y="5900801"/>
                </a:lnTo>
                <a:lnTo>
                  <a:pt x="5742558" y="3682"/>
                </a:lnTo>
                <a:lnTo>
                  <a:pt x="6984" y="3682"/>
                </a:lnTo>
                <a:close/>
              </a:path>
            </a:pathLst>
          </a:custGeom>
          <a:solidFill>
            <a:srgbClr val="FFFFFF">
              <a:alpha val="902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Title 3"/>
          <p:cNvSpPr>
            <a:spLocks noGrp="1"/>
          </p:cNvSpPr>
          <p:nvPr/>
        </p:nvSpPr>
        <p:spPr>
          <a:xfrm>
            <a:off x="266700" y="254000"/>
            <a:ext cx="5880100" cy="6032500"/>
          </a:xfrm>
          <a:custGeom>
            <a:avLst/>
            <a:gdLst/>
            <a:ahLst/>
            <a:cxnLst/>
            <a:rect l="0" t="0" r="0" b="0"/>
            <a:pathLst>
              <a:path w="5880100" h="6032500">
                <a:moveTo>
                  <a:pt x="6984" y="3682"/>
                </a:moveTo>
                <a:lnTo>
                  <a:pt x="5869559" y="3682"/>
                </a:lnTo>
                <a:lnTo>
                  <a:pt x="5869559" y="6027801"/>
                </a:lnTo>
                <a:lnTo>
                  <a:pt x="6984" y="6027801"/>
                </a:lnTo>
                <a:close/>
                <a:moveTo>
                  <a:pt x="32384" y="6002401"/>
                </a:moveTo>
                <a:lnTo>
                  <a:pt x="5844159" y="6002401"/>
                </a:lnTo>
                <a:lnTo>
                  <a:pt x="5844159" y="29082"/>
                </a:lnTo>
                <a:lnTo>
                  <a:pt x="32384" y="29082"/>
                </a:lnTo>
                <a:close/>
                <a:moveTo>
                  <a:pt x="57784" y="54482"/>
                </a:moveTo>
                <a:lnTo>
                  <a:pt x="5818759" y="54482"/>
                </a:lnTo>
                <a:lnTo>
                  <a:pt x="5818759" y="5977001"/>
                </a:lnTo>
                <a:lnTo>
                  <a:pt x="57784" y="5977001"/>
                </a:lnTo>
                <a:close/>
                <a:moveTo>
                  <a:pt x="133984" y="5900801"/>
                </a:moveTo>
                <a:lnTo>
                  <a:pt x="5742559" y="5900801"/>
                </a:lnTo>
                <a:lnTo>
                  <a:pt x="5742559" y="130683"/>
                </a:lnTo>
                <a:lnTo>
                  <a:pt x="133984" y="13068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" name="Title 3"/>
          <p:cNvSpPr>
            <a:spLocks noGrp="1"/>
          </p:cNvSpPr>
          <p:nvPr/>
        </p:nvSpPr>
        <p:spPr>
          <a:xfrm>
            <a:off x="2743200" y="1638300"/>
            <a:ext cx="927100" cy="368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sz="2400" b="1">
                <a:solidFill>
                  <a:srgbClr val="000000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609600" y="2438400"/>
            <a:ext cx="4102100" cy="2400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1、热点回顾</a:t>
            </a:r>
          </a:p>
          <a:p>
            <a:pPr>
              <a:lnSpc>
                <a:spcPts val="32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2、概念、特点及市场</a:t>
            </a:r>
          </a:p>
          <a:p>
            <a:pPr>
              <a:lnSpc>
                <a:spcPts val="32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3、元宇宙第一股——Roblox</a:t>
            </a:r>
          </a:p>
          <a:p>
            <a:pPr>
              <a:lnSpc>
                <a:spcPts val="32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4、科技巨头的布局</a:t>
            </a:r>
          </a:p>
          <a:p>
            <a:pPr>
              <a:lnSpc>
                <a:spcPts val="32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5、主要投资赛道</a:t>
            </a:r>
          </a:p>
          <a:p>
            <a:pPr>
              <a:lnSpc>
                <a:spcPts val="3200"/>
              </a:lnSpc>
            </a:pPr>
            <a:r>
              <a:rPr sz="2400">
                <a:solidFill>
                  <a:srgbClr val="000000"/>
                </a:solidFill>
                <a:latin typeface="微软雅黑"/>
                <a:ea typeface="微软雅黑"/>
              </a:rPr>
              <a:t>6、总结</a:t>
            </a:r>
          </a:p>
        </p:txBody>
      </p:sp>
      <p:pic>
        <p:nvPicPr>
          <p:cNvPr id="7" name="Picture 4" descr="Picture 4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4457700" y="6096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Title 3"/>
          <p:cNvSpPr>
            <a:spLocks noGrp="1"/>
          </p:cNvSpPr>
          <p:nvPr/>
        </p:nvSpPr>
        <p:spPr>
          <a:xfrm>
            <a:off x="0" y="0"/>
            <a:ext cx="8750300" cy="6858000"/>
          </a:xfrm>
          <a:custGeom>
            <a:avLst/>
            <a:gdLst/>
            <a:ahLst/>
            <a:cxnLst/>
            <a:rect l="0" t="0" r="0" b="0"/>
            <a:pathLst>
              <a:path w="8750300" h="6858000">
                <a:moveTo>
                  <a:pt x="0" y="0"/>
                </a:moveTo>
                <a:lnTo>
                  <a:pt x="8748521" y="0"/>
                </a:lnTo>
                <a:lnTo>
                  <a:pt x="8748521" y="0"/>
                </a:lnTo>
                <a:lnTo>
                  <a:pt x="8188452" y="0"/>
                </a:lnTo>
                <a:lnTo>
                  <a:pt x="8182864" y="14605"/>
                </a:lnTo>
                <a:lnTo>
                  <a:pt x="8186928" y="59055"/>
                </a:lnTo>
                <a:cubicBezTo>
                  <a:pt x="8187436" y="76961"/>
                  <a:pt x="8178292" y="89789"/>
                  <a:pt x="8178800" y="107695"/>
                </a:cubicBezTo>
                <a:cubicBezTo>
                  <a:pt x="8160257" y="138176"/>
                  <a:pt x="8200390" y="201930"/>
                  <a:pt x="8199755" y="246126"/>
                </a:cubicBezTo>
                <a:cubicBezTo>
                  <a:pt x="8199119" y="290321"/>
                  <a:pt x="8212328" y="364235"/>
                  <a:pt x="8175117" y="372871"/>
                </a:cubicBezTo>
                <a:cubicBezTo>
                  <a:pt x="8169021" y="431291"/>
                  <a:pt x="8180069" y="357632"/>
                  <a:pt x="8172196" y="450596"/>
                </a:cubicBezTo>
                <a:cubicBezTo>
                  <a:pt x="8207629" y="551941"/>
                  <a:pt x="8172196" y="787019"/>
                  <a:pt x="8184896" y="812800"/>
                </a:cubicBezTo>
                <a:cubicBezTo>
                  <a:pt x="8219440" y="860806"/>
                  <a:pt x="8177656" y="854964"/>
                  <a:pt x="8194293" y="912748"/>
                </a:cubicBezTo>
                <a:cubicBezTo>
                  <a:pt x="8203946" y="946022"/>
                  <a:pt x="8192516" y="951738"/>
                  <a:pt x="8193024" y="989965"/>
                </a:cubicBezTo>
                <a:cubicBezTo>
                  <a:pt x="8193405" y="1028065"/>
                  <a:pt x="8193786" y="1095883"/>
                  <a:pt x="8196834" y="1141729"/>
                </a:cubicBezTo>
                <a:cubicBezTo>
                  <a:pt x="8199755" y="1187703"/>
                  <a:pt x="8210804" y="1234821"/>
                  <a:pt x="8210931" y="1265428"/>
                </a:cubicBezTo>
                <a:cubicBezTo>
                  <a:pt x="8200009" y="1304035"/>
                  <a:pt x="8235950" y="1370710"/>
                  <a:pt x="8239506" y="1385443"/>
                </a:cubicBezTo>
                <a:cubicBezTo>
                  <a:pt x="8253856" y="1422653"/>
                  <a:pt x="8264143" y="1428115"/>
                  <a:pt x="8257921" y="1458087"/>
                </a:cubicBezTo>
                <a:cubicBezTo>
                  <a:pt x="8258048" y="1468120"/>
                  <a:pt x="8277606" y="1503171"/>
                  <a:pt x="8277732" y="1513204"/>
                </a:cubicBezTo>
                <a:lnTo>
                  <a:pt x="8307958" y="1570863"/>
                </a:lnTo>
                <a:cubicBezTo>
                  <a:pt x="8334502" y="1617090"/>
                  <a:pt x="8331581" y="1601470"/>
                  <a:pt x="8341868" y="1638427"/>
                </a:cubicBezTo>
                <a:cubicBezTo>
                  <a:pt x="8365490" y="1719579"/>
                  <a:pt x="8350250" y="1715262"/>
                  <a:pt x="8362442" y="1742440"/>
                </a:cubicBezTo>
                <a:lnTo>
                  <a:pt x="8390001" y="1818259"/>
                </a:lnTo>
                <a:cubicBezTo>
                  <a:pt x="8392287" y="1824101"/>
                  <a:pt x="8387080" y="1851152"/>
                  <a:pt x="8383269" y="1862709"/>
                </a:cubicBezTo>
                <a:lnTo>
                  <a:pt x="8389619" y="1917446"/>
                </a:lnTo>
                <a:lnTo>
                  <a:pt x="8384920" y="1972183"/>
                </a:lnTo>
                <a:cubicBezTo>
                  <a:pt x="8387461" y="1979549"/>
                  <a:pt x="8386699" y="2048256"/>
                  <a:pt x="8391398" y="2054352"/>
                </a:cubicBezTo>
                <a:cubicBezTo>
                  <a:pt x="8407273" y="2141601"/>
                  <a:pt x="8368156" y="2189861"/>
                  <a:pt x="8383905" y="2227453"/>
                </a:cubicBezTo>
                <a:cubicBezTo>
                  <a:pt x="8375523" y="2317623"/>
                  <a:pt x="8350123" y="2407665"/>
                  <a:pt x="8344154" y="2510917"/>
                </a:cubicBezTo>
                <a:cubicBezTo>
                  <a:pt x="8369300" y="2597912"/>
                  <a:pt x="8339328" y="2649728"/>
                  <a:pt x="8344916" y="2741803"/>
                </a:cubicBezTo>
                <a:cubicBezTo>
                  <a:pt x="8366125" y="2779776"/>
                  <a:pt x="8367776" y="2817114"/>
                  <a:pt x="8355330" y="2864993"/>
                </a:cubicBezTo>
                <a:cubicBezTo>
                  <a:pt x="8390890" y="2860548"/>
                  <a:pt x="8325485" y="2937637"/>
                  <a:pt x="8363712" y="2950845"/>
                </a:cubicBezTo>
                <a:lnTo>
                  <a:pt x="8348218" y="2978277"/>
                </a:lnTo>
                <a:lnTo>
                  <a:pt x="8344789" y="2995929"/>
                </a:lnTo>
                <a:lnTo>
                  <a:pt x="8335518" y="2998596"/>
                </a:lnTo>
                <a:lnTo>
                  <a:pt x="8324342" y="3023615"/>
                </a:lnTo>
                <a:cubicBezTo>
                  <a:pt x="8321421" y="3033395"/>
                  <a:pt x="8314943" y="3084321"/>
                  <a:pt x="8315325" y="3097021"/>
                </a:cubicBezTo>
                <a:cubicBezTo>
                  <a:pt x="8331327" y="3142234"/>
                  <a:pt x="8273923" y="3160395"/>
                  <a:pt x="8295640" y="3216656"/>
                </a:cubicBezTo>
                <a:cubicBezTo>
                  <a:pt x="8300466" y="3237230"/>
                  <a:pt x="8311134" y="3299714"/>
                  <a:pt x="8298942" y="3311017"/>
                </a:cubicBezTo>
                <a:cubicBezTo>
                  <a:pt x="8295640" y="3323844"/>
                  <a:pt x="8299068" y="3339338"/>
                  <a:pt x="8286242" y="3344671"/>
                </a:cubicBezTo>
                <a:cubicBezTo>
                  <a:pt x="8270621" y="3353943"/>
                  <a:pt x="8291703" y="3400678"/>
                  <a:pt x="8274177" y="3393313"/>
                </a:cubicBezTo>
                <a:cubicBezTo>
                  <a:pt x="8288528" y="3426459"/>
                  <a:pt x="8268462" y="3487801"/>
                  <a:pt x="8259318" y="3514598"/>
                </a:cubicBezTo>
                <a:cubicBezTo>
                  <a:pt x="8253094" y="3563365"/>
                  <a:pt x="8239887" y="3650361"/>
                  <a:pt x="8237219" y="3686175"/>
                </a:cubicBezTo>
                <a:cubicBezTo>
                  <a:pt x="8234553" y="3687699"/>
                  <a:pt x="8233410" y="3677284"/>
                  <a:pt x="8229981" y="3692270"/>
                </a:cubicBezTo>
                <a:cubicBezTo>
                  <a:pt x="8226552" y="3707130"/>
                  <a:pt x="8206867" y="3757421"/>
                  <a:pt x="8216392" y="3775964"/>
                </a:cubicBezTo>
                <a:cubicBezTo>
                  <a:pt x="8182737" y="3875658"/>
                  <a:pt x="8227694" y="3939794"/>
                  <a:pt x="8211947" y="3977132"/>
                </a:cubicBezTo>
                <a:cubicBezTo>
                  <a:pt x="8206486" y="4067302"/>
                  <a:pt x="8162036" y="4164583"/>
                  <a:pt x="8151494" y="4222115"/>
                </a:cubicBezTo>
                <a:cubicBezTo>
                  <a:pt x="8146415" y="4287901"/>
                  <a:pt x="8141207" y="4339209"/>
                  <a:pt x="8145018" y="4364736"/>
                </a:cubicBezTo>
                <a:lnTo>
                  <a:pt x="8136508" y="4462526"/>
                </a:lnTo>
                <a:cubicBezTo>
                  <a:pt x="8139049" y="4503293"/>
                  <a:pt x="8119999" y="4548124"/>
                  <a:pt x="8119744" y="4574032"/>
                </a:cubicBezTo>
                <a:cubicBezTo>
                  <a:pt x="8113268" y="4670679"/>
                  <a:pt x="8096631" y="4649978"/>
                  <a:pt x="8086343" y="4667757"/>
                </a:cubicBezTo>
                <a:cubicBezTo>
                  <a:pt x="8066151" y="4705857"/>
                  <a:pt x="8037068" y="4758944"/>
                  <a:pt x="8020431" y="4799076"/>
                </a:cubicBezTo>
                <a:cubicBezTo>
                  <a:pt x="8001635" y="4834128"/>
                  <a:pt x="8009509" y="4811649"/>
                  <a:pt x="8003413" y="4849622"/>
                </a:cubicBezTo>
                <a:cubicBezTo>
                  <a:pt x="7987156" y="4853305"/>
                  <a:pt x="7955915" y="4883150"/>
                  <a:pt x="7974965" y="4919980"/>
                </a:cubicBezTo>
                <a:lnTo>
                  <a:pt x="7921752" y="5010784"/>
                </a:lnTo>
                <a:cubicBezTo>
                  <a:pt x="7900669" y="4983226"/>
                  <a:pt x="7915910" y="5107686"/>
                  <a:pt x="7893939" y="5088128"/>
                </a:cubicBezTo>
                <a:cubicBezTo>
                  <a:pt x="7879334" y="5101971"/>
                  <a:pt x="7889240" y="5118862"/>
                  <a:pt x="7877682" y="5143881"/>
                </a:cubicBezTo>
                <a:cubicBezTo>
                  <a:pt x="7867904" y="5192776"/>
                  <a:pt x="7863586" y="5226177"/>
                  <a:pt x="7855712" y="5284343"/>
                </a:cubicBezTo>
                <a:cubicBezTo>
                  <a:pt x="7853044" y="5338445"/>
                  <a:pt x="7848092" y="5337302"/>
                  <a:pt x="7836916" y="5390896"/>
                </a:cubicBezTo>
                <a:cubicBezTo>
                  <a:pt x="7835518" y="5429631"/>
                  <a:pt x="7816850" y="5449570"/>
                  <a:pt x="7815834" y="5470906"/>
                </a:cubicBezTo>
                <a:cubicBezTo>
                  <a:pt x="7839329" y="5526278"/>
                  <a:pt x="7791577" y="5496433"/>
                  <a:pt x="7810754" y="5529707"/>
                </a:cubicBezTo>
                <a:cubicBezTo>
                  <a:pt x="7804277" y="5550916"/>
                  <a:pt x="7809356" y="5587492"/>
                  <a:pt x="7798689" y="5597296"/>
                </a:cubicBezTo>
                <a:lnTo>
                  <a:pt x="7789291" y="5608904"/>
                </a:lnTo>
                <a:cubicBezTo>
                  <a:pt x="7784973" y="5623496"/>
                  <a:pt x="7775575" y="5660428"/>
                  <a:pt x="7772781" y="5684913"/>
                </a:cubicBezTo>
                <a:cubicBezTo>
                  <a:pt x="7760589" y="5692610"/>
                  <a:pt x="7766557" y="5734342"/>
                  <a:pt x="7772654" y="5755779"/>
                </a:cubicBezTo>
                <a:cubicBezTo>
                  <a:pt x="7773924" y="5792774"/>
                  <a:pt x="7744587" y="5848616"/>
                  <a:pt x="7763510" y="5889599"/>
                </a:cubicBezTo>
                <a:cubicBezTo>
                  <a:pt x="7766304" y="5932093"/>
                  <a:pt x="7764399" y="5940907"/>
                  <a:pt x="7768336" y="5989739"/>
                </a:cubicBezTo>
                <a:cubicBezTo>
                  <a:pt x="7776591" y="6020790"/>
                  <a:pt x="7738618" y="6024968"/>
                  <a:pt x="7736459" y="6084925"/>
                </a:cubicBezTo>
                <a:cubicBezTo>
                  <a:pt x="7730109" y="6134227"/>
                  <a:pt x="7754493" y="6240437"/>
                  <a:pt x="7731760" y="6346545"/>
                </a:cubicBezTo>
                <a:cubicBezTo>
                  <a:pt x="7742809" y="6409741"/>
                  <a:pt x="7736205" y="6468694"/>
                  <a:pt x="7730109" y="6527533"/>
                </a:cubicBezTo>
                <a:cubicBezTo>
                  <a:pt x="7711821" y="6585674"/>
                  <a:pt x="7743317" y="6579286"/>
                  <a:pt x="7734935" y="6627126"/>
                </a:cubicBezTo>
                <a:cubicBezTo>
                  <a:pt x="7738744" y="6635153"/>
                  <a:pt x="7740650" y="6697662"/>
                  <a:pt x="7735189" y="6694817"/>
                </a:cubicBezTo>
                <a:cubicBezTo>
                  <a:pt x="7737475" y="6716941"/>
                  <a:pt x="7758938" y="6732845"/>
                  <a:pt x="7764399" y="6765445"/>
                </a:cubicBezTo>
                <a:cubicBezTo>
                  <a:pt x="7765923" y="6776325"/>
                  <a:pt x="7769352" y="6810510"/>
                  <a:pt x="7772781" y="6844697"/>
                </a:cubicBezTo>
                <a:lnTo>
                  <a:pt x="777417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49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8" name="Picture 78" descr="Picture 78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8458200" y="1066800"/>
            <a:ext cx="3492500" cy="4737100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/>
        </p:nvSpPr>
        <p:spPr>
          <a:xfrm>
            <a:off x="787400" y="2209800"/>
            <a:ext cx="1574800" cy="393700"/>
          </a:xfrm>
          <a:custGeom>
            <a:avLst/>
            <a:gdLst/>
            <a:ahLst/>
            <a:cxnLst/>
            <a:rect l="0" t="0" r="0" b="0"/>
            <a:pathLst>
              <a:path w="1574800" h="393700">
                <a:moveTo>
                  <a:pt x="9855" y="381127"/>
                </a:moveTo>
                <a:lnTo>
                  <a:pt x="1569923" y="381127"/>
                </a:lnTo>
                <a:lnTo>
                  <a:pt x="1569923" y="10286"/>
                </a:lnTo>
                <a:lnTo>
                  <a:pt x="9855" y="10286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" name="Title 3"/>
          <p:cNvSpPr>
            <a:spLocks noGrp="1"/>
          </p:cNvSpPr>
          <p:nvPr/>
        </p:nvSpPr>
        <p:spPr>
          <a:xfrm>
            <a:off x="2349500" y="2209800"/>
            <a:ext cx="4127500" cy="393700"/>
          </a:xfrm>
          <a:custGeom>
            <a:avLst/>
            <a:gdLst/>
            <a:ahLst/>
            <a:cxnLst/>
            <a:rect l="0" t="0" r="0" b="0"/>
            <a:pathLst>
              <a:path w="4127500" h="393700">
                <a:moveTo>
                  <a:pt x="7747" y="381127"/>
                </a:moveTo>
                <a:lnTo>
                  <a:pt x="4124579" y="381127"/>
                </a:lnTo>
                <a:lnTo>
                  <a:pt x="4124579" y="10286"/>
                </a:lnTo>
                <a:lnTo>
                  <a:pt x="7747" y="10286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787400" y="2590800"/>
            <a:ext cx="5702300" cy="12700"/>
          </a:xfrm>
          <a:custGeom>
            <a:avLst/>
            <a:gdLst/>
            <a:ahLst/>
            <a:cxnLst/>
            <a:rect l="0" t="0" r="0" b="0"/>
            <a:pathLst>
              <a:path w="5702300" h="12700">
                <a:moveTo>
                  <a:pt x="6680" y="127"/>
                </a:moveTo>
                <a:lnTo>
                  <a:pt x="5689980" y="127"/>
                </a:lnTo>
              </a:path>
            </a:pathLst>
          </a:custGeom>
          <a:ln>
            <a:solidFill>
              <a:srgbClr val="A5A5A5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" name="Title 3"/>
          <p:cNvSpPr>
            <a:spLocks noGrp="1"/>
          </p:cNvSpPr>
          <p:nvPr/>
        </p:nvSpPr>
        <p:spPr>
          <a:xfrm>
            <a:off x="787400" y="3238500"/>
            <a:ext cx="5702300" cy="12700"/>
          </a:xfrm>
          <a:custGeom>
            <a:avLst/>
            <a:gdLst/>
            <a:ahLst/>
            <a:cxnLst/>
            <a:rect l="0" t="0" r="0" b="0"/>
            <a:pathLst>
              <a:path w="5702300" h="12700">
                <a:moveTo>
                  <a:pt x="6680" y="6477"/>
                </a:moveTo>
                <a:lnTo>
                  <a:pt x="5689980" y="6477"/>
                </a:lnTo>
              </a:path>
            </a:pathLst>
          </a:custGeom>
          <a:ln>
            <a:solidFill>
              <a:srgbClr val="A5A5A5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Title 3"/>
          <p:cNvSpPr>
            <a:spLocks noGrp="1"/>
          </p:cNvSpPr>
          <p:nvPr/>
        </p:nvSpPr>
        <p:spPr>
          <a:xfrm>
            <a:off x="787400" y="4305300"/>
            <a:ext cx="5702300" cy="12700"/>
          </a:xfrm>
          <a:custGeom>
            <a:avLst/>
            <a:gdLst/>
            <a:ahLst/>
            <a:cxnLst/>
            <a:rect l="0" t="0" r="0" b="0"/>
            <a:pathLst>
              <a:path w="5702300" h="12700">
                <a:moveTo>
                  <a:pt x="6680" y="6477"/>
                </a:moveTo>
                <a:lnTo>
                  <a:pt x="5689980" y="6477"/>
                </a:lnTo>
              </a:path>
            </a:pathLst>
          </a:custGeom>
          <a:ln>
            <a:solidFill>
              <a:srgbClr val="A5A5A5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graphicFrame>
        <p:nvGraphicFramePr>
          <p:cNvPr id="79" name="Table 79"/>
          <p:cNvGraphicFramePr>
            <a:graphicFrameLocks noGrp="1"/>
          </p:cNvGraphicFramePr>
          <p:nvPr/>
        </p:nvGraphicFramePr>
        <p:xfrm>
          <a:off x="787400" y="2209800"/>
          <a:ext cx="5676900" cy="3467100"/>
        </p:xfrm>
        <a:graphic>
          <a:graphicData uri="http://schemas.openxmlformats.org/drawingml/2006/table">
            <a:tbl>
              <a:tblPr/>
              <a:tblGrid>
                <a:gridCol w="567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0">
                <a:tc>
                  <a:txBody>
                    <a:bodyPr/>
                    <a:lstStyle/>
                    <a:p>
                      <a:pPr marL="584200">
                        <a:lnSpc>
                          <a:spcPts val="25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赛道中国受益公司</a:t>
                      </a:r>
                    </a:p>
                    <a:p>
                      <a:pPr marL="2095500">
                        <a:lnSpc>
                          <a:spcPts val="31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视觉中国、数字认证、弘业股份、</a:t>
                      </a:r>
                    </a:p>
                    <a:p>
                      <a:pPr marL="381000">
                        <a:lnSpc>
                          <a:spcPts val="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底层架构</a:t>
                      </a:r>
                    </a:p>
                    <a:p>
                      <a:pPr marL="2603500">
                        <a:lnSpc>
                          <a:spcPts val="10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安妮股份、东方电子等</a:t>
                      </a:r>
                    </a:p>
                    <a:p>
                      <a:pPr marL="1587500">
                        <a:lnSpc>
                          <a:spcPts val="2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商汤科技、旷视科技、海康威视、科大讯飞、</a:t>
                      </a:r>
                    </a:p>
                    <a:p>
                      <a:pPr marL="1930400">
                        <a:lnSpc>
                          <a:spcPts val="1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百度、阿里巴巴、第四范式、华为、</a:t>
                      </a:r>
                    </a:p>
                    <a:p>
                      <a:pPr marL="381000">
                        <a:lnSpc>
                          <a:spcPts val="10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后端基建</a:t>
                      </a:r>
                    </a:p>
                    <a:p>
                      <a:pPr marL="1727200">
                        <a:lnSpc>
                          <a:spcPts val="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九章云极、拓尔思、美林数据、深信服、</a:t>
                      </a:r>
                    </a:p>
                    <a:p>
                      <a:pPr marL="2032000">
                        <a:lnSpc>
                          <a:spcPts val="20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浪潮信息、中国长城、中科曙光等</a:t>
                      </a:r>
                    </a:p>
                    <a:p>
                      <a:pPr marL="2235200">
                        <a:lnSpc>
                          <a:spcPts val="33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歌尔股份、瑞芯微、京东方A、</a:t>
                      </a:r>
                    </a:p>
                    <a:p>
                      <a:pPr marL="381000">
                        <a:lnSpc>
                          <a:spcPts val="10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前端设备</a:t>
                      </a:r>
                    </a:p>
                    <a:p>
                      <a:pPr marL="2705100">
                        <a:lnSpc>
                          <a:spcPts val="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韦尔股份、思瑞浦等</a:t>
                      </a:r>
                    </a:p>
                  </a:txBody>
                  <a:tcPr marL="0" marR="0" marT="0" marB="0">
                    <a:lnL>
                      <a:solidFill>
                        <a:srgbClr val="A5A5A5"/>
                      </a:solidFill>
                    </a:lnL>
                    <a:lnR>
                      <a:solidFill>
                        <a:srgbClr val="A5A5A5"/>
                      </a:solidFill>
                    </a:lnR>
                    <a:lnT>
                      <a:solidFill>
                        <a:srgbClr val="A5A5A5"/>
                      </a:solidFill>
                    </a:lnT>
                    <a:lnB>
                      <a:solidFill>
                        <a:srgbClr val="A5A5A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892300">
                        <a:lnSpc>
                          <a:spcPts val="24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腾讯、完美世界、吉比特、电魂网络、</a:t>
                      </a:r>
                    </a:p>
                    <a:p>
                      <a:pPr marL="381000">
                        <a:lnSpc>
                          <a:spcPts val="10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场景内容</a:t>
                      </a:r>
                    </a:p>
                    <a:p>
                      <a:pPr marL="1993900">
                        <a:lnSpc>
                          <a:spcPts val="900"/>
                        </a:lnSpc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宝通科技、科大讯飞、中望软件、等</a:t>
                      </a:r>
                    </a:p>
                  </a:txBody>
                  <a:tcPr marL="0" marR="0" marT="0" marB="0">
                    <a:lnL>
                      <a:solidFill>
                        <a:srgbClr val="A5A5A5"/>
                      </a:solidFill>
                    </a:lnL>
                    <a:lnR>
                      <a:solidFill>
                        <a:srgbClr val="A5A5A5"/>
                      </a:solidFill>
                    </a:lnR>
                    <a:lnT>
                      <a:solidFill>
                        <a:srgbClr val="A5A5A5"/>
                      </a:solidFill>
                    </a:lnT>
                    <a:lnB>
                      <a:solidFill>
                        <a:srgbClr val="A5A5A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itle 3"/>
          <p:cNvSpPr>
            <a:spLocks noGrp="1"/>
          </p:cNvSpPr>
          <p:nvPr/>
        </p:nvSpPr>
        <p:spPr>
          <a:xfrm>
            <a:off x="11036300" y="4025900"/>
            <a:ext cx="228600" cy="241300"/>
          </a:xfrm>
          <a:custGeom>
            <a:avLst/>
            <a:gdLst/>
            <a:ahLst/>
            <a:cxnLst/>
            <a:rect l="0" t="0" r="0" b="0"/>
            <a:pathLst>
              <a:path w="228600" h="241300">
                <a:moveTo>
                  <a:pt x="2793" y="122808"/>
                </a:moveTo>
                <a:cubicBezTo>
                  <a:pt x="2793" y="58673"/>
                  <a:pt x="52578" y="6604"/>
                  <a:pt x="114045" y="6604"/>
                </a:cubicBezTo>
                <a:cubicBezTo>
                  <a:pt x="175514" y="6604"/>
                  <a:pt x="225297" y="58673"/>
                  <a:pt x="225297" y="122808"/>
                </a:cubicBezTo>
                <a:cubicBezTo>
                  <a:pt x="225297" y="186944"/>
                  <a:pt x="175514" y="239014"/>
                  <a:pt x="114045" y="239014"/>
                </a:cubicBezTo>
                <a:cubicBezTo>
                  <a:pt x="52578" y="239014"/>
                  <a:pt x="2793" y="186944"/>
                  <a:pt x="2793" y="122808"/>
                </a:cubicBezTo>
                <a:close/>
              </a:path>
            </a:pathLst>
          </a:custGeom>
          <a:ln>
            <a:solidFill>
              <a:srgbClr val="FF0000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" name="Title 3"/>
          <p:cNvSpPr>
            <a:spLocks noGrp="1"/>
          </p:cNvSpPr>
          <p:nvPr/>
        </p:nvSpPr>
        <p:spPr>
          <a:xfrm>
            <a:off x="10960100" y="2921000"/>
            <a:ext cx="622300" cy="1041400"/>
          </a:xfrm>
          <a:custGeom>
            <a:avLst/>
            <a:gdLst/>
            <a:ahLst/>
            <a:cxnLst/>
            <a:rect l="0" t="0" r="0" b="0"/>
            <a:pathLst>
              <a:path w="622300" h="1041400">
                <a:moveTo>
                  <a:pt x="38227" y="1040383"/>
                </a:moveTo>
                <a:lnTo>
                  <a:pt x="590295" y="97663"/>
                </a:lnTo>
                <a:lnTo>
                  <a:pt x="557403" y="78359"/>
                </a:lnTo>
                <a:lnTo>
                  <a:pt x="5460" y="1021079"/>
                </a:lnTo>
                <a:close/>
                <a:moveTo>
                  <a:pt x="613536" y="133350"/>
                </a:moveTo>
                <a:lnTo>
                  <a:pt x="622045" y="5841"/>
                </a:lnTo>
                <a:lnTo>
                  <a:pt x="514984" y="75565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" name="Title 3"/>
          <p:cNvSpPr>
            <a:spLocks noGrp="1"/>
          </p:cNvSpPr>
          <p:nvPr/>
        </p:nvSpPr>
        <p:spPr>
          <a:xfrm>
            <a:off x="10388600" y="3289300"/>
            <a:ext cx="787400" cy="254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FF0000"/>
                </a:solidFill>
                <a:latin typeface="微软雅黑"/>
                <a:ea typeface="微软雅黑"/>
              </a:rPr>
              <a:t>+30%</a:t>
            </a:r>
          </a:p>
        </p:txBody>
      </p:sp>
      <p:sp>
        <p:nvSpPr>
          <p:cNvPr id="12" name="Title 3"/>
          <p:cNvSpPr>
            <a:spLocks noGrp="1"/>
          </p:cNvSpPr>
          <p:nvPr/>
        </p:nvSpPr>
        <p:spPr>
          <a:xfrm>
            <a:off x="609600" y="571500"/>
            <a:ext cx="698500" cy="317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2500"/>
              </a:lnSpc>
            </a:pPr>
            <a:r>
              <a:rPr sz="1950" b="1">
                <a:solidFill>
                  <a:srgbClr val="000000"/>
                </a:solidFill>
                <a:latin typeface="微软雅黑"/>
                <a:ea typeface="微软雅黑"/>
              </a:rPr>
              <a:t>小结：</a:t>
            </a:r>
          </a:p>
        </p:txBody>
      </p:sp>
      <p:sp>
        <p:nvSpPr>
          <p:cNvPr id="13" name="Title 3"/>
          <p:cNvSpPr>
            <a:spLocks noGrp="1"/>
          </p:cNvSpPr>
          <p:nvPr/>
        </p:nvSpPr>
        <p:spPr>
          <a:xfrm>
            <a:off x="609600" y="1155700"/>
            <a:ext cx="59690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自10月28日FB改名Meta以来，国内A股市场中，“元宇宙”概念</a:t>
            </a:r>
          </a:p>
          <a:p>
            <a:pPr>
              <a:lnSpc>
                <a:spcPts val="29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股已经整体涨幅超过30%，未来可期。</a:t>
            </a:r>
          </a:p>
        </p:txBody>
      </p:sp>
      <p:pic>
        <p:nvPicPr>
          <p:cNvPr id="80" name="Picture 80" descr="Picture 80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10629900" y="1651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1" descr="Picture 81"/>
          <p:cNvPicPr>
            <a:picLocks noChangeAspect="1"/>
          </p:cNvPicPr>
          <p:nvPr/>
        </p:nvPicPr>
        <p:blipFill>
          <a:blip r:embed="rId2" cstate="print">
            <a:alphaModFix/>
          </a:blip>
          <a:srcRect t="1296"/>
          <a:stretch>
            <a:fillRect/>
          </a:stretch>
        </p:blipFill>
        <p:spPr>
          <a:xfrm>
            <a:off x="0" y="0"/>
            <a:ext cx="12192000" cy="67691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/>
        </p:nvSpPr>
        <p:spPr>
          <a:xfrm>
            <a:off x="0" y="5308600"/>
            <a:ext cx="12192000" cy="749300"/>
          </a:xfrm>
          <a:custGeom>
            <a:avLst/>
            <a:gdLst/>
            <a:ahLst/>
            <a:cxnLst/>
            <a:rect l="0" t="0" r="0" b="0"/>
            <a:pathLst>
              <a:path w="12192000" h="749300">
                <a:moveTo>
                  <a:pt x="0" y="747776"/>
                </a:moveTo>
                <a:lnTo>
                  <a:pt x="12192000" y="747776"/>
                </a:lnTo>
                <a:lnTo>
                  <a:pt x="12192000" y="11683"/>
                </a:lnTo>
                <a:lnTo>
                  <a:pt x="0" y="11683"/>
                </a:lnTo>
                <a:close/>
              </a:path>
            </a:pathLst>
          </a:custGeom>
          <a:solidFill>
            <a:srgbClr val="FFFFFF">
              <a:alpha val="92940"/>
            </a:srgbClr>
          </a:solidFill>
        </p:spPr>
        <p:txBody>
          <a:bodyPr wrap="none" lIns="0" tIns="0" rIns="0" bIns="0"/>
          <a:lstStyle/>
          <a:p>
            <a:pPr marL="4165600">
              <a:lnSpc>
                <a:spcPts val="4900"/>
              </a:lnSpc>
            </a:pPr>
            <a:r>
              <a:rPr sz="3600">
                <a:solidFill>
                  <a:srgbClr val="262626"/>
                </a:solidFill>
                <a:latin typeface="微软雅黑"/>
                <a:ea typeface="微软雅黑"/>
              </a:rPr>
              <a:t>6、希望，抑或绝望</a:t>
            </a:r>
          </a:p>
        </p:txBody>
      </p:sp>
      <p:sp>
        <p:nvSpPr>
          <p:cNvPr id="2" name="Title 3"/>
          <p:cNvSpPr>
            <a:spLocks noGrp="1"/>
          </p:cNvSpPr>
          <p:nvPr/>
        </p:nvSpPr>
        <p:spPr>
          <a:xfrm>
            <a:off x="0" y="5232400"/>
            <a:ext cx="12192000" cy="12700"/>
          </a:xfrm>
          <a:custGeom>
            <a:avLst/>
            <a:gdLst/>
            <a:ahLst/>
            <a:cxnLst/>
            <a:rect l="0" t="0" r="0" b="0"/>
            <a:pathLst>
              <a:path w="12192000" h="12700">
                <a:moveTo>
                  <a:pt x="0" y="9397"/>
                </a:moveTo>
                <a:lnTo>
                  <a:pt x="12192000" y="9397"/>
                </a:lnTo>
              </a:path>
            </a:pathLst>
          </a:custGeom>
          <a:ln>
            <a:solidFill>
              <a:srgbClr val="FFFFFF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" name="Title 3"/>
          <p:cNvSpPr>
            <a:spLocks noGrp="1"/>
          </p:cNvSpPr>
          <p:nvPr/>
        </p:nvSpPr>
        <p:spPr>
          <a:xfrm>
            <a:off x="0" y="6134100"/>
            <a:ext cx="12192000" cy="12700"/>
          </a:xfrm>
          <a:custGeom>
            <a:avLst/>
            <a:gdLst/>
            <a:ahLst/>
            <a:cxnLst/>
            <a:rect l="0" t="0" r="0" b="0"/>
            <a:pathLst>
              <a:path w="12192000" h="12700">
                <a:moveTo>
                  <a:pt x="0" y="761"/>
                </a:moveTo>
                <a:lnTo>
                  <a:pt x="12192000" y="761"/>
                </a:lnTo>
              </a:path>
            </a:pathLst>
          </a:custGeom>
          <a:ln>
            <a:solidFill>
              <a:srgbClr val="FFFFFF"/>
            </a:solidFill>
          </a:ln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82" name="Picture 82" descr="Picture 82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7467600" y="609600"/>
            <a:ext cx="4381500" cy="5600700"/>
          </a:xfrm>
          <a:prstGeom prst="rect">
            <a:avLst/>
          </a:prstGeom>
        </p:spPr>
      </p:pic>
      <p:sp>
        <p:nvSpPr>
          <p:cNvPr id="2" name="Title 3"/>
          <p:cNvSpPr>
            <a:spLocks noGrp="1"/>
          </p:cNvSpPr>
          <p:nvPr/>
        </p:nvSpPr>
        <p:spPr>
          <a:xfrm>
            <a:off x="7493000" y="622300"/>
            <a:ext cx="4292600" cy="5511800"/>
          </a:xfrm>
          <a:custGeom>
            <a:avLst/>
            <a:gdLst/>
            <a:ahLst/>
            <a:cxnLst/>
            <a:rect l="0" t="0" r="0" b="0"/>
            <a:pathLst>
              <a:path w="4292600" h="5511800">
                <a:moveTo>
                  <a:pt x="10794" y="5507608"/>
                </a:moveTo>
                <a:lnTo>
                  <a:pt x="4289425" y="5507608"/>
                </a:lnTo>
                <a:lnTo>
                  <a:pt x="4289425" y="12065"/>
                </a:lnTo>
                <a:lnTo>
                  <a:pt x="10794" y="1206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" name="Title 3"/>
          <p:cNvSpPr>
            <a:spLocks noGrp="1"/>
          </p:cNvSpPr>
          <p:nvPr/>
        </p:nvSpPr>
        <p:spPr>
          <a:xfrm>
            <a:off x="7493000" y="622300"/>
            <a:ext cx="4292600" cy="5511800"/>
          </a:xfrm>
          <a:custGeom>
            <a:avLst/>
            <a:gdLst/>
            <a:ahLst/>
            <a:cxnLst/>
            <a:rect l="0" t="0" r="0" b="0"/>
            <a:pathLst>
              <a:path w="4292600" h="5511800">
                <a:moveTo>
                  <a:pt x="10794" y="5507608"/>
                </a:moveTo>
                <a:lnTo>
                  <a:pt x="4289425" y="5507608"/>
                </a:lnTo>
                <a:lnTo>
                  <a:pt x="4289425" y="12065"/>
                </a:lnTo>
                <a:lnTo>
                  <a:pt x="10794" y="12065"/>
                </a:lnTo>
                <a:close/>
              </a:path>
            </a:pathLst>
          </a:custGeom>
          <a:ln>
            <a:solidFill>
              <a:srgbClr val="DEDEDE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" name="Title 3"/>
          <p:cNvSpPr>
            <a:spLocks noGrp="1"/>
          </p:cNvSpPr>
          <p:nvPr/>
        </p:nvSpPr>
        <p:spPr>
          <a:xfrm>
            <a:off x="7429500" y="1181100"/>
            <a:ext cx="139700" cy="711200"/>
          </a:xfrm>
          <a:custGeom>
            <a:avLst/>
            <a:gdLst/>
            <a:ahLst/>
            <a:cxnLst/>
            <a:rect l="0" t="0" r="0" b="0"/>
            <a:pathLst>
              <a:path w="139700" h="711200">
                <a:moveTo>
                  <a:pt x="9906" y="704850"/>
                </a:moveTo>
                <a:lnTo>
                  <a:pt x="137922" y="704850"/>
                </a:lnTo>
                <a:lnTo>
                  <a:pt x="137922" y="761"/>
                </a:lnTo>
                <a:lnTo>
                  <a:pt x="9906" y="761"/>
                </a:lnTo>
                <a:close/>
              </a:path>
            </a:pathLst>
          </a:custGeom>
          <a:solidFill>
            <a:srgbClr val="ED7D31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7962900" y="2095500"/>
            <a:ext cx="3340100" cy="12700"/>
          </a:xfrm>
          <a:custGeom>
            <a:avLst/>
            <a:gdLst/>
            <a:ahLst/>
            <a:cxnLst/>
            <a:rect l="0" t="0" r="0" b="0"/>
            <a:pathLst>
              <a:path w="3340100" h="12700">
                <a:moveTo>
                  <a:pt x="3047" y="9144"/>
                </a:moveTo>
                <a:lnTo>
                  <a:pt x="3331463" y="9144"/>
                </a:lnTo>
                <a:lnTo>
                  <a:pt x="3331463" y="0"/>
                </a:lnTo>
                <a:lnTo>
                  <a:pt x="3047" y="0"/>
                </a:lnTo>
                <a:close/>
              </a:path>
            </a:pathLst>
          </a:custGeom>
          <a:solidFill>
            <a:srgbClr val="D5D5D5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" name="Title 3"/>
          <p:cNvSpPr>
            <a:spLocks noGrp="1"/>
          </p:cNvSpPr>
          <p:nvPr/>
        </p:nvSpPr>
        <p:spPr>
          <a:xfrm>
            <a:off x="152400" y="3136900"/>
            <a:ext cx="1397000" cy="482600"/>
          </a:xfrm>
          <a:custGeom>
            <a:avLst/>
            <a:gdLst/>
            <a:ahLst/>
            <a:cxnLst/>
            <a:rect l="0" t="0" r="0" b="0"/>
            <a:pathLst>
              <a:path w="1397000" h="482600">
                <a:moveTo>
                  <a:pt x="0" y="472694"/>
                </a:moveTo>
                <a:lnTo>
                  <a:pt x="1392936" y="472694"/>
                </a:lnTo>
                <a:lnTo>
                  <a:pt x="1392936" y="10921"/>
                </a:lnTo>
                <a:lnTo>
                  <a:pt x="0" y="1092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Title 3"/>
          <p:cNvSpPr>
            <a:spLocks noGrp="1"/>
          </p:cNvSpPr>
          <p:nvPr/>
        </p:nvSpPr>
        <p:spPr>
          <a:xfrm>
            <a:off x="469900" y="3187700"/>
            <a:ext cx="749300" cy="393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民主化的</a:t>
            </a:r>
          </a:p>
          <a:p>
            <a:pPr>
              <a:lnSpc>
                <a:spcPts val="14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电子商务</a:t>
            </a:r>
          </a:p>
        </p:txBody>
      </p:sp>
      <p:pic>
        <p:nvPicPr>
          <p:cNvPr id="83" name="Picture 83" descr="Picture 83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406400" y="1028700"/>
            <a:ext cx="6616700" cy="4711700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/>
        </p:nvSpPr>
        <p:spPr>
          <a:xfrm>
            <a:off x="2362200" y="774700"/>
            <a:ext cx="2540000" cy="482600"/>
          </a:xfrm>
          <a:custGeom>
            <a:avLst/>
            <a:gdLst/>
            <a:ahLst/>
            <a:cxnLst/>
            <a:rect l="0" t="0" r="0" b="0"/>
            <a:pathLst>
              <a:path w="2540000" h="482600">
                <a:moveTo>
                  <a:pt x="3810" y="474217"/>
                </a:moveTo>
                <a:lnTo>
                  <a:pt x="2527554" y="474217"/>
                </a:lnTo>
                <a:lnTo>
                  <a:pt x="2527554" y="12445"/>
                </a:lnTo>
                <a:lnTo>
                  <a:pt x="3810" y="1244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pPr marL="419100">
              <a:lnSpc>
                <a:spcPts val="19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虚拟世界和三维空间软件</a:t>
            </a:r>
          </a:p>
          <a:p>
            <a:pPr marL="952500">
              <a:lnSpc>
                <a:spcPts val="14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成为主流</a:t>
            </a:r>
          </a:p>
        </p:txBody>
      </p:sp>
      <p:sp>
        <p:nvSpPr>
          <p:cNvPr id="10" name="Title 3"/>
          <p:cNvSpPr>
            <a:spLocks noGrp="1"/>
          </p:cNvSpPr>
          <p:nvPr/>
        </p:nvSpPr>
        <p:spPr>
          <a:xfrm>
            <a:off x="2362200" y="5499100"/>
            <a:ext cx="2540000" cy="482600"/>
          </a:xfrm>
          <a:custGeom>
            <a:avLst/>
            <a:gdLst/>
            <a:ahLst/>
            <a:cxnLst/>
            <a:rect l="0" t="0" r="0" b="0"/>
            <a:pathLst>
              <a:path w="2540000" h="482600">
                <a:moveTo>
                  <a:pt x="3810" y="471170"/>
                </a:moveTo>
                <a:lnTo>
                  <a:pt x="2527554" y="471170"/>
                </a:lnTo>
                <a:lnTo>
                  <a:pt x="2527554" y="9397"/>
                </a:lnTo>
                <a:lnTo>
                  <a:pt x="3810" y="939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pPr marL="571500">
              <a:lnSpc>
                <a:spcPts val="18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去中心化、分布式和</a:t>
            </a:r>
          </a:p>
          <a:p>
            <a:pPr marL="800100">
              <a:lnSpc>
                <a:spcPts val="15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远程生产技术</a:t>
            </a:r>
          </a:p>
        </p:txBody>
      </p:sp>
      <p:sp>
        <p:nvSpPr>
          <p:cNvPr id="11" name="Title 3"/>
          <p:cNvSpPr>
            <a:spLocks noGrp="1"/>
          </p:cNvSpPr>
          <p:nvPr/>
        </p:nvSpPr>
        <p:spPr>
          <a:xfrm>
            <a:off x="5689600" y="3098800"/>
            <a:ext cx="1409700" cy="660400"/>
          </a:xfrm>
          <a:custGeom>
            <a:avLst/>
            <a:gdLst/>
            <a:ahLst/>
            <a:cxnLst/>
            <a:rect l="0" t="0" r="0" b="0"/>
            <a:pathLst>
              <a:path w="1409700" h="660400">
                <a:moveTo>
                  <a:pt x="10921" y="653288"/>
                </a:moveTo>
                <a:lnTo>
                  <a:pt x="1403857" y="653288"/>
                </a:lnTo>
                <a:lnTo>
                  <a:pt x="1403857" y="7111"/>
                </a:lnTo>
                <a:lnTo>
                  <a:pt x="10921" y="711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pPr marL="317500">
              <a:lnSpc>
                <a:spcPts val="18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受众第一、</a:t>
            </a:r>
          </a:p>
          <a:p>
            <a:pPr marL="469900">
              <a:lnSpc>
                <a:spcPts val="15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真实的</a:t>
            </a:r>
          </a:p>
          <a:p>
            <a:pPr marL="393700">
              <a:lnSpc>
                <a:spcPts val="14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社交媒体</a:t>
            </a:r>
          </a:p>
        </p:txBody>
      </p:sp>
      <p:sp>
        <p:nvSpPr>
          <p:cNvPr id="12" name="Title 3"/>
          <p:cNvSpPr>
            <a:spLocks noGrp="1"/>
          </p:cNvSpPr>
          <p:nvPr/>
        </p:nvSpPr>
        <p:spPr>
          <a:xfrm>
            <a:off x="5651500" y="1651000"/>
            <a:ext cx="1003300" cy="279400"/>
          </a:xfrm>
          <a:custGeom>
            <a:avLst/>
            <a:gdLst/>
            <a:ahLst/>
            <a:cxnLst/>
            <a:rect l="0" t="0" r="0" b="0"/>
            <a:pathLst>
              <a:path w="1003300" h="279400">
                <a:moveTo>
                  <a:pt x="10921" y="279146"/>
                </a:moveTo>
                <a:lnTo>
                  <a:pt x="990854" y="279146"/>
                </a:lnTo>
                <a:lnTo>
                  <a:pt x="990854" y="1778"/>
                </a:lnTo>
                <a:lnTo>
                  <a:pt x="10921" y="177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pPr marL="266700">
              <a:lnSpc>
                <a:spcPts val="1800"/>
              </a:lnSpc>
            </a:pPr>
            <a:r>
              <a:rPr sz="1200">
                <a:solidFill>
                  <a:srgbClr val="000000"/>
                </a:solidFill>
                <a:latin typeface="微软雅黑"/>
                <a:ea typeface="微软雅黑"/>
              </a:rPr>
              <a:t>元宇宙</a:t>
            </a:r>
          </a:p>
        </p:txBody>
      </p:sp>
      <p:sp>
        <p:nvSpPr>
          <p:cNvPr id="13" name="Title 3"/>
          <p:cNvSpPr>
            <a:spLocks noGrp="1"/>
          </p:cNvSpPr>
          <p:nvPr/>
        </p:nvSpPr>
        <p:spPr>
          <a:xfrm>
            <a:off x="7747000" y="1257300"/>
            <a:ext cx="3581400" cy="571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sz="1600" b="1">
                <a:solidFill>
                  <a:srgbClr val="000000"/>
                </a:solidFill>
                <a:latin typeface="微软雅黑"/>
                <a:ea typeface="微软雅黑"/>
              </a:rPr>
              <a:t>元宇宙未来可能会经历由多个虚拟平台</a:t>
            </a:r>
          </a:p>
          <a:p>
            <a:pPr>
              <a:lnSpc>
                <a:spcPts val="2300"/>
              </a:lnSpc>
            </a:pPr>
            <a:r>
              <a:rPr sz="1600" b="1">
                <a:solidFill>
                  <a:srgbClr val="000000"/>
                </a:solidFill>
                <a:latin typeface="微软雅黑"/>
                <a:ea typeface="微软雅黑"/>
              </a:rPr>
              <a:t>至统一的元宇宙世界的演进</a:t>
            </a:r>
          </a:p>
        </p:txBody>
      </p:sp>
      <p:sp>
        <p:nvSpPr>
          <p:cNvPr id="14" name="Title 3"/>
          <p:cNvSpPr>
            <a:spLocks noGrp="1"/>
          </p:cNvSpPr>
          <p:nvPr/>
        </p:nvSpPr>
        <p:spPr>
          <a:xfrm>
            <a:off x="7645400" y="2133600"/>
            <a:ext cx="3911600" cy="469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sz="140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</a:rPr>
              <a:t> 元宇宙世界的构成需要四方面：虚拟世界，电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子商务，去中心化的技术以及社交媒体。</a:t>
            </a:r>
          </a:p>
        </p:txBody>
      </p:sp>
      <p:sp>
        <p:nvSpPr>
          <p:cNvPr id="15" name="Title 3"/>
          <p:cNvSpPr>
            <a:spLocks noGrp="1"/>
          </p:cNvSpPr>
          <p:nvPr/>
        </p:nvSpPr>
        <p:spPr>
          <a:xfrm>
            <a:off x="7645400" y="2717800"/>
            <a:ext cx="396240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sz="135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 任何公司都可以来构建一个虚拟世界，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Facebook可以构建一个虚拟游戏世界，迪士</a:t>
            </a:r>
          </a:p>
          <a:p>
            <a:pPr marL="228600">
              <a:lnSpc>
                <a:spcPts val="16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尼可以构建一个虚拟游乐园，亚马逊可以构建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一个虚拟购物世界。这些世界要能够互联互通，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还要存在一套能够统一运作的社会、经济系统。</a:t>
            </a:r>
          </a:p>
        </p:txBody>
      </p:sp>
      <p:sp>
        <p:nvSpPr>
          <p:cNvPr id="16" name="Title 3"/>
          <p:cNvSpPr>
            <a:spLocks noGrp="1"/>
          </p:cNvSpPr>
          <p:nvPr/>
        </p:nvSpPr>
        <p:spPr>
          <a:xfrm>
            <a:off x="7645400" y="3937000"/>
            <a:ext cx="3962400" cy="1320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sz="135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 未来元宇宙可能会经历两个阶段：1）第一阶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段，多个虚拟社区“分布式”存在，一些公司</a:t>
            </a:r>
          </a:p>
          <a:p>
            <a:pPr marL="228600">
              <a:lnSpc>
                <a:spcPts val="16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先搞出一个自己的虚拟平台。2）第二阶段：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这些平台在一定机制下实现互通，被一套系统</a:t>
            </a:r>
          </a:p>
          <a:p>
            <a:pPr marL="228600">
              <a:lnSpc>
                <a:spcPts val="17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串联起来。而当现实中各类型公司的功能在虚</a:t>
            </a:r>
          </a:p>
          <a:p>
            <a:pPr marL="228600">
              <a:lnSpc>
                <a:spcPts val="1700"/>
              </a:lnSpc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</a:rPr>
              <a:t>拟世界中交叉存在时，Metaverse也就出现了。</a:t>
            </a:r>
          </a:p>
        </p:txBody>
      </p:sp>
      <p:sp>
        <p:nvSpPr>
          <p:cNvPr id="17" name="Title 3"/>
          <p:cNvSpPr>
            <a:spLocks noGrp="1"/>
          </p:cNvSpPr>
          <p:nvPr/>
        </p:nvSpPr>
        <p:spPr>
          <a:xfrm>
            <a:off x="7645400" y="5372100"/>
            <a:ext cx="37719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sz="135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 这些属性也有可能是由一家公司来统一开发，</a:t>
            </a:r>
          </a:p>
          <a:p>
            <a:pPr marL="228600">
              <a:lnSpc>
                <a:spcPts val="1600"/>
              </a:lnSpc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</a:rPr>
              <a:t>比如《头号玩家》里的“绿洲OASIS”。</a:t>
            </a:r>
          </a:p>
        </p:txBody>
      </p:sp>
      <p:pic>
        <p:nvPicPr>
          <p:cNvPr id="84" name="Picture 84" descr="Picture 84"/>
          <p:cNvPicPr>
            <a:picLocks noChangeAspect="1"/>
          </p:cNvPicPr>
          <p:nvPr/>
        </p:nvPicPr>
        <p:blipFill>
          <a:blip r:embed="rId4" cstate="print">
            <a:alphaModFix/>
          </a:blip>
          <a:srcRect/>
          <a:stretch>
            <a:fillRect/>
          </a:stretch>
        </p:blipFill>
        <p:spPr>
          <a:xfrm>
            <a:off x="10629900" y="1651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5" descr="Picture 85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/>
        </p:nvSpPr>
        <p:spPr>
          <a:xfrm>
            <a:off x="0" y="990600"/>
            <a:ext cx="6019800" cy="5867400"/>
          </a:xfrm>
          <a:custGeom>
            <a:avLst/>
            <a:gdLst/>
            <a:ahLst/>
            <a:cxnLst/>
            <a:rect l="0" t="0" r="0" b="0"/>
            <a:pathLst>
              <a:path w="6019800" h="5867400">
                <a:moveTo>
                  <a:pt x="0" y="4662030"/>
                </a:moveTo>
                <a:cubicBezTo>
                  <a:pt x="0" y="1723135"/>
                  <a:pt x="0" y="1723135"/>
                  <a:pt x="0" y="1723135"/>
                </a:cubicBezTo>
                <a:cubicBezTo>
                  <a:pt x="532688" y="702817"/>
                  <a:pt x="1598041" y="7620"/>
                  <a:pt x="2830449" y="7620"/>
                </a:cubicBezTo>
                <a:cubicBezTo>
                  <a:pt x="4586478" y="7620"/>
                  <a:pt x="6017514" y="1434210"/>
                  <a:pt x="6017514" y="3194812"/>
                </a:cubicBezTo>
                <a:cubicBezTo>
                  <a:pt x="6017514" y="4314444"/>
                  <a:pt x="5435219" y="5298579"/>
                  <a:pt x="4559427" y="5867399"/>
                </a:cubicBezTo>
                <a:cubicBezTo>
                  <a:pt x="1096962" y="5867399"/>
                  <a:pt x="1096962" y="5867399"/>
                  <a:pt x="1096962" y="5867399"/>
                </a:cubicBezTo>
                <a:cubicBezTo>
                  <a:pt x="632002" y="5569445"/>
                  <a:pt x="257314" y="5154117"/>
                  <a:pt x="0" y="4662030"/>
                </a:cubicBezTo>
                <a:close/>
              </a:path>
            </a:pathLst>
          </a:custGeom>
          <a:solidFill>
            <a:srgbClr val="FFFFFF">
              <a:alpha val="74900"/>
            </a:srgbClr>
          </a:solidFill>
        </p:spPr>
        <p:txBody>
          <a:bodyPr wrap="none" lIns="0" tIns="584200" rIns="0" bIns="0"/>
          <a:lstStyle/>
          <a:p>
            <a:pPr marL="1625600">
              <a:lnSpc>
                <a:spcPts val="3300"/>
              </a:lnSpc>
            </a:pPr>
            <a:r>
              <a:rPr sz="2800" b="1">
                <a:solidFill>
                  <a:srgbClr val="000000"/>
                </a:solidFill>
                <a:latin typeface="DengXian-Light"/>
                <a:ea typeface="DengXian-Light"/>
              </a:rPr>
              <a:t>希望，抑或绝望</a:t>
            </a:r>
          </a:p>
          <a:p>
            <a:pPr marL="444500">
              <a:lnSpc>
                <a:spcPts val="4800"/>
              </a:lnSpc>
            </a:pPr>
            <a:r>
              <a:rPr sz="160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 《三体》作者</a:t>
            </a:r>
            <a:r>
              <a:rPr sz="1600" b="1">
                <a:solidFill>
                  <a:srgbClr val="000000"/>
                </a:solidFill>
                <a:latin typeface="微软雅黑"/>
                <a:ea typeface="微软雅黑"/>
              </a:rPr>
              <a:t>刘慈欣</a:t>
            </a: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 近接受采访时说道：“元宇</a:t>
            </a:r>
          </a:p>
          <a:p>
            <a:pPr marL="444500">
              <a:lnSpc>
                <a:spcPts val="18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宙将是整个人类文明的一次内卷，而内卷的封闭系统的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熵值总归是要趋于 大的。所以元宇宙 后就是引导人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类走向死路一条。“</a:t>
            </a:r>
          </a:p>
          <a:p>
            <a:pPr marL="444500">
              <a:lnSpc>
                <a:spcPts val="5900"/>
              </a:lnSpc>
            </a:pPr>
            <a:r>
              <a:rPr sz="1600">
                <a:solidFill>
                  <a:srgbClr val="000000"/>
                </a:solidFill>
                <a:latin typeface="ArialMT"/>
                <a:ea typeface="ArialMT"/>
              </a:rPr>
              <a:t>•</a:t>
            </a: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 俄罗斯总统</a:t>
            </a:r>
            <a:r>
              <a:rPr sz="1600" b="1">
                <a:solidFill>
                  <a:srgbClr val="000000"/>
                </a:solidFill>
                <a:latin typeface="微软雅黑"/>
                <a:ea typeface="微软雅黑"/>
              </a:rPr>
              <a:t>普京</a:t>
            </a: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在2021年“人工智能之旅”国际会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议上说道：“‘元宇宙’带来的可能性应该用于突破距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离的限制，帮助交流和学习，而不是逃避现实世界的出</a:t>
            </a:r>
          </a:p>
          <a:p>
            <a:pPr marL="444500">
              <a:lnSpc>
                <a:spcPts val="18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路。我要提醒的是，‘元宇宙’这个概念是30年前由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一位著名科幻作家提出的，按照他的设想，人们从不完</a:t>
            </a:r>
          </a:p>
          <a:p>
            <a:pPr marL="444500">
              <a:lnSpc>
                <a:spcPts val="17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美的现实世界逃到了‘元宇宙’。这样的想法对如今的</a:t>
            </a:r>
          </a:p>
          <a:p>
            <a:pPr marL="444500">
              <a:lnSpc>
                <a:spcPts val="18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我们来说太悲观了。我认为，确实没必要走这条路。”</a:t>
            </a:r>
          </a:p>
        </p:txBody>
      </p:sp>
      <p:sp>
        <p:nvSpPr>
          <p:cNvPr id="2" name="Title 3"/>
          <p:cNvSpPr>
            <a:spLocks noGrp="1"/>
          </p:cNvSpPr>
          <p:nvPr/>
        </p:nvSpPr>
        <p:spPr>
          <a:xfrm>
            <a:off x="2286000" y="3327400"/>
            <a:ext cx="939800" cy="12700"/>
          </a:xfrm>
          <a:custGeom>
            <a:avLst/>
            <a:gdLst/>
            <a:ahLst/>
            <a:cxnLst/>
            <a:rect l="0" t="0" r="0" b="0"/>
            <a:pathLst>
              <a:path w="939800" h="12700">
                <a:moveTo>
                  <a:pt x="1142" y="9778"/>
                </a:moveTo>
                <a:lnTo>
                  <a:pt x="936625" y="9778"/>
                </a:lnTo>
              </a:path>
            </a:pathLst>
          </a:custGeom>
          <a:ln>
            <a:solidFill>
              <a:srgbClr val="262626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86" name="Picture 86" descr="Picture 86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10629900" y="1651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7999"/>
                </a:moveTo>
                <a:lnTo>
                  <a:pt x="12188952" y="6857999"/>
                </a:lnTo>
                <a:lnTo>
                  <a:pt x="1218895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87" name="Picture 87" descr="Picture 87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0" y="0"/>
            <a:ext cx="4648200" cy="6858000"/>
          </a:xfrm>
          <a:prstGeom prst="rect">
            <a:avLst/>
          </a:prstGeom>
        </p:spPr>
      </p:pic>
      <p:sp>
        <p:nvSpPr>
          <p:cNvPr id="2" name="Title 3"/>
          <p:cNvSpPr>
            <a:spLocks noGrp="1"/>
          </p:cNvSpPr>
          <p:nvPr/>
        </p:nvSpPr>
        <p:spPr>
          <a:xfrm>
            <a:off x="5295900" y="2336800"/>
            <a:ext cx="4254500" cy="88900"/>
          </a:xfrm>
          <a:custGeom>
            <a:avLst/>
            <a:gdLst/>
            <a:ahLst/>
            <a:cxnLst/>
            <a:rect l="0" t="0" r="0" b="0"/>
            <a:pathLst>
              <a:path w="4254500" h="88900">
                <a:moveTo>
                  <a:pt x="1523" y="38353"/>
                </a:moveTo>
                <a:cubicBezTo>
                  <a:pt x="145160" y="54990"/>
                  <a:pt x="268223" y="53213"/>
                  <a:pt x="522859" y="38353"/>
                </a:cubicBezTo>
                <a:cubicBezTo>
                  <a:pt x="777621" y="23495"/>
                  <a:pt x="815975" y="20954"/>
                  <a:pt x="1001776" y="38353"/>
                </a:cubicBezTo>
                <a:cubicBezTo>
                  <a:pt x="1187577" y="55753"/>
                  <a:pt x="1354074" y="14859"/>
                  <a:pt x="1523110" y="38353"/>
                </a:cubicBezTo>
                <a:cubicBezTo>
                  <a:pt x="1692275" y="61848"/>
                  <a:pt x="1891030" y="44196"/>
                  <a:pt x="2129408" y="38353"/>
                </a:cubicBezTo>
                <a:cubicBezTo>
                  <a:pt x="2367661" y="32511"/>
                  <a:pt x="2622168" y="10414"/>
                  <a:pt x="2777998" y="38353"/>
                </a:cubicBezTo>
                <a:cubicBezTo>
                  <a:pt x="2933954" y="66294"/>
                  <a:pt x="3133217" y="13334"/>
                  <a:pt x="3469131" y="38353"/>
                </a:cubicBezTo>
                <a:cubicBezTo>
                  <a:pt x="3805046" y="63372"/>
                  <a:pt x="4018915" y="41402"/>
                  <a:pt x="4245102" y="38353"/>
                </a:cubicBezTo>
                <a:cubicBezTo>
                  <a:pt x="4244593" y="44577"/>
                  <a:pt x="4244975" y="50165"/>
                  <a:pt x="4245102" y="56641"/>
                </a:cubicBezTo>
                <a:cubicBezTo>
                  <a:pt x="4019295" y="32511"/>
                  <a:pt x="3836162" y="51689"/>
                  <a:pt x="3596386" y="56641"/>
                </a:cubicBezTo>
                <a:cubicBezTo>
                  <a:pt x="3356737" y="61595"/>
                  <a:pt x="3205733" y="41275"/>
                  <a:pt x="2905379" y="56641"/>
                </a:cubicBezTo>
                <a:cubicBezTo>
                  <a:pt x="2605024" y="72009"/>
                  <a:pt x="2527681" y="84582"/>
                  <a:pt x="2214244" y="56641"/>
                </a:cubicBezTo>
                <a:cubicBezTo>
                  <a:pt x="1900808" y="28702"/>
                  <a:pt x="1967865" y="68071"/>
                  <a:pt x="1735328" y="56641"/>
                </a:cubicBezTo>
                <a:cubicBezTo>
                  <a:pt x="1502791" y="45211"/>
                  <a:pt x="1345183" y="50800"/>
                  <a:pt x="1086612" y="56641"/>
                </a:cubicBezTo>
                <a:cubicBezTo>
                  <a:pt x="828166" y="62484"/>
                  <a:pt x="779653" y="73914"/>
                  <a:pt x="522859" y="56641"/>
                </a:cubicBezTo>
                <a:cubicBezTo>
                  <a:pt x="266065" y="39370"/>
                  <a:pt x="121792" y="42671"/>
                  <a:pt x="1523" y="56641"/>
                </a:cubicBezTo>
                <a:cubicBezTo>
                  <a:pt x="2285" y="49148"/>
                  <a:pt x="1015" y="46482"/>
                  <a:pt x="1523" y="38353"/>
                </a:cubicBezTo>
                <a:close/>
              </a:path>
            </a:pathLst>
          </a:custGeom>
          <a:solidFill>
            <a:srgbClr val="ED7D31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" name="Title 3"/>
          <p:cNvSpPr>
            <a:spLocks noGrp="1"/>
          </p:cNvSpPr>
          <p:nvPr/>
        </p:nvSpPr>
        <p:spPr>
          <a:xfrm>
            <a:off x="5295900" y="2336800"/>
            <a:ext cx="4254500" cy="88900"/>
          </a:xfrm>
          <a:custGeom>
            <a:avLst/>
            <a:gdLst/>
            <a:ahLst/>
            <a:cxnLst/>
            <a:rect l="0" t="0" r="0" b="0"/>
            <a:pathLst>
              <a:path w="4254500" h="88900">
                <a:moveTo>
                  <a:pt x="1523" y="38353"/>
                </a:moveTo>
                <a:cubicBezTo>
                  <a:pt x="214884" y="17398"/>
                  <a:pt x="308990" y="20192"/>
                  <a:pt x="480440" y="38353"/>
                </a:cubicBezTo>
                <a:cubicBezTo>
                  <a:pt x="651890" y="56515"/>
                  <a:pt x="832612" y="17145"/>
                  <a:pt x="959358" y="38353"/>
                </a:cubicBezTo>
                <a:cubicBezTo>
                  <a:pt x="1086103" y="59563"/>
                  <a:pt x="1303146" y="63500"/>
                  <a:pt x="1523110" y="38353"/>
                </a:cubicBezTo>
                <a:cubicBezTo>
                  <a:pt x="1743075" y="13208"/>
                  <a:pt x="1971802" y="9271"/>
                  <a:pt x="2214244" y="38353"/>
                </a:cubicBezTo>
                <a:cubicBezTo>
                  <a:pt x="2456688" y="67436"/>
                  <a:pt x="2560319" y="33528"/>
                  <a:pt x="2735580" y="38353"/>
                </a:cubicBezTo>
                <a:cubicBezTo>
                  <a:pt x="2910840" y="43179"/>
                  <a:pt x="3098673" y="24891"/>
                  <a:pt x="3256915" y="38353"/>
                </a:cubicBezTo>
                <a:cubicBezTo>
                  <a:pt x="3415156" y="51815"/>
                  <a:pt x="3981450" y="28194"/>
                  <a:pt x="4245102" y="38353"/>
                </a:cubicBezTo>
                <a:cubicBezTo>
                  <a:pt x="4245991" y="47371"/>
                  <a:pt x="4244593" y="47752"/>
                  <a:pt x="4245102" y="56641"/>
                </a:cubicBezTo>
                <a:cubicBezTo>
                  <a:pt x="4060317" y="69596"/>
                  <a:pt x="3911854" y="41528"/>
                  <a:pt x="3596386" y="56641"/>
                </a:cubicBezTo>
                <a:cubicBezTo>
                  <a:pt x="3281044" y="71754"/>
                  <a:pt x="3321431" y="34416"/>
                  <a:pt x="3075051" y="56641"/>
                </a:cubicBezTo>
                <a:cubicBezTo>
                  <a:pt x="2828670" y="78866"/>
                  <a:pt x="2768854" y="40259"/>
                  <a:pt x="2553716" y="56641"/>
                </a:cubicBezTo>
                <a:cubicBezTo>
                  <a:pt x="2338578" y="73025"/>
                  <a:pt x="2183383" y="57911"/>
                  <a:pt x="1905127" y="56641"/>
                </a:cubicBezTo>
                <a:cubicBezTo>
                  <a:pt x="1626743" y="55371"/>
                  <a:pt x="1559179" y="62484"/>
                  <a:pt x="1213993" y="56641"/>
                </a:cubicBezTo>
                <a:cubicBezTo>
                  <a:pt x="868807" y="50800"/>
                  <a:pt x="875919" y="53975"/>
                  <a:pt x="735076" y="56641"/>
                </a:cubicBezTo>
                <a:cubicBezTo>
                  <a:pt x="594233" y="59309"/>
                  <a:pt x="185039" y="53085"/>
                  <a:pt x="1523" y="56641"/>
                </a:cubicBezTo>
                <a:cubicBezTo>
                  <a:pt x="1270" y="52578"/>
                  <a:pt x="2032" y="44196"/>
                  <a:pt x="1523" y="38353"/>
                </a:cubicBezTo>
                <a:close/>
              </a:path>
            </a:pathLst>
          </a:custGeom>
          <a:ln>
            <a:solidFill>
              <a:srgbClr val="ED7D31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" name="Title 3"/>
          <p:cNvSpPr>
            <a:spLocks noGrp="1"/>
          </p:cNvSpPr>
          <p:nvPr/>
        </p:nvSpPr>
        <p:spPr>
          <a:xfrm>
            <a:off x="5194300" y="1676400"/>
            <a:ext cx="6261100" cy="3505200"/>
          </a:xfrm>
          <a:custGeom>
            <a:avLst/>
            <a:gdLst/>
            <a:ahLst/>
            <a:cxnLst/>
            <a:rect l="0" t="0" r="0" b="0"/>
            <a:pathLst>
              <a:path w="6261100" h="3505200">
                <a:moveTo>
                  <a:pt x="7873" y="3494532"/>
                </a:moveTo>
                <a:lnTo>
                  <a:pt x="6259321" y="3494532"/>
                </a:lnTo>
                <a:lnTo>
                  <a:pt x="6259321" y="10667"/>
                </a:lnTo>
                <a:lnTo>
                  <a:pt x="7873" y="106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  <p:txBody>
          <a:bodyPr wrap="none" lIns="0" tIns="0" rIns="0" bIns="0"/>
          <a:lstStyle/>
          <a:p>
            <a:pPr marL="292100">
              <a:lnSpc>
                <a:spcPts val="23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终，</a:t>
            </a:r>
          </a:p>
          <a:p>
            <a:pPr marL="88900">
              <a:lnSpc>
                <a:spcPts val="32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科技的迭代演变给这个世界留下了不同的人生命题</a:t>
            </a:r>
          </a:p>
          <a:p>
            <a:pPr marL="88900">
              <a:lnSpc>
                <a:spcPts val="31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一部分人类看向广袤宇宙，为人类寻找更广阔、持久的生存家园</a:t>
            </a:r>
          </a:p>
          <a:p>
            <a:pPr marL="88900">
              <a:lnSpc>
                <a:spcPts val="31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而另一部分人则蜷缩进了内心的无形世界里，寻找内心的平静</a:t>
            </a:r>
          </a:p>
          <a:p>
            <a:pPr marL="88900">
              <a:lnSpc>
                <a:spcPts val="31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不过，无论如何变化，</a:t>
            </a:r>
          </a:p>
          <a:p>
            <a:pPr marL="88900">
              <a:lnSpc>
                <a:spcPts val="3100"/>
              </a:lnSpc>
            </a:pPr>
            <a:r>
              <a:rPr sz="1600">
                <a:solidFill>
                  <a:srgbClr val="000000"/>
                </a:solidFill>
                <a:latin typeface="微软雅黑"/>
                <a:ea typeface="微软雅黑"/>
              </a:rPr>
              <a:t>人类终究无法停止脚步，</a:t>
            </a:r>
          </a:p>
          <a:p>
            <a:pPr marL="88900">
              <a:lnSpc>
                <a:spcPts val="3200"/>
              </a:lnSpc>
            </a:pPr>
            <a:r>
              <a:rPr sz="1600" b="1">
                <a:solidFill>
                  <a:srgbClr val="FF0000"/>
                </a:solidFill>
                <a:latin typeface="微软雅黑"/>
                <a:ea typeface="微软雅黑"/>
              </a:rPr>
              <a:t>在万变中寻找不变，</a:t>
            </a:r>
          </a:p>
          <a:p>
            <a:pPr marL="88900">
              <a:lnSpc>
                <a:spcPts val="3100"/>
              </a:lnSpc>
            </a:pPr>
            <a:r>
              <a:rPr sz="1600" b="1">
                <a:solidFill>
                  <a:srgbClr val="FF0000"/>
                </a:solidFill>
                <a:latin typeface="微软雅黑"/>
                <a:ea typeface="微软雅黑"/>
              </a:rPr>
              <a:t>在祥和中接受挑战。</a:t>
            </a:r>
          </a:p>
        </p:txBody>
      </p:sp>
      <p:pic>
        <p:nvPicPr>
          <p:cNvPr id="88" name="Picture 88" descr="Picture 88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10629900" y="165100"/>
            <a:ext cx="13462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89" name="Picture 89" descr="Picture 89"/>
          <p:cNvPicPr>
            <a:picLocks noChangeAspect="1"/>
          </p:cNvPicPr>
          <p:nvPr/>
        </p:nvPicPr>
        <p:blipFill>
          <a:blip r:embed="rId2" cstate="print">
            <a:alphaModFix/>
          </a:blip>
          <a:srcRect/>
          <a:stretch>
            <a:fillRect/>
          </a:stretch>
        </p:blipFill>
        <p:spPr>
          <a:xfrm>
            <a:off x="0" y="12700"/>
            <a:ext cx="12192000" cy="6845300"/>
          </a:xfrm>
          <a:prstGeom prst="rect">
            <a:avLst/>
          </a:prstGeom>
        </p:spPr>
      </p:pic>
      <p:sp>
        <p:nvSpPr>
          <p:cNvPr id="2" name="Title 3"/>
          <p:cNvSpPr>
            <a:spLocks noGrp="1"/>
          </p:cNvSpPr>
          <p:nvPr/>
        </p:nvSpPr>
        <p:spPr>
          <a:xfrm>
            <a:off x="2374900" y="2997200"/>
            <a:ext cx="7429500" cy="673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sz="4800">
                <a:solidFill>
                  <a:srgbClr val="FFFFFF"/>
                </a:solidFill>
                <a:latin typeface="微软雅黑"/>
                <a:ea typeface="微软雅黑"/>
              </a:rPr>
              <a:t>惟愿：生命不息，探索不止</a:t>
            </a:r>
          </a:p>
        </p:txBody>
      </p:sp>
      <p:pic>
        <p:nvPicPr>
          <p:cNvPr id="90" name="Picture 90" descr="Picture 90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>
          <a:xfrm>
            <a:off x="9753600" y="4584700"/>
            <a:ext cx="1803400" cy="1803400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/>
        </p:nvSpPr>
        <p:spPr>
          <a:xfrm>
            <a:off x="10198100" y="5207000"/>
            <a:ext cx="939800" cy="469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ts val="4000"/>
              </a:lnSpc>
            </a:pPr>
            <a:r>
              <a:rPr sz="3150">
                <a:solidFill>
                  <a:srgbClr val="FFFFFF"/>
                </a:solidFill>
                <a:latin typeface="微软雅黑"/>
                <a:ea typeface="微软雅黑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宽屏</PresentationFormat>
  <Paragraphs>77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ArialMT</vt:lpstr>
      <vt:lpstr>DengXian-Light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13437548793@163.com</cp:lastModifiedBy>
  <cp:revision>1</cp:revision>
  <dcterms:modified xsi:type="dcterms:W3CDTF">2024-06-27T02:25:17Z</dcterms:modified>
</cp:coreProperties>
</file>